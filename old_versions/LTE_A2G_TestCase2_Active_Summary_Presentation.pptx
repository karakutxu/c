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0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44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LTE Air-to-Ground Test Case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Assessment, Conclusions, Recommendations &amp; Executive Summary</a:t>
            </a:r>
          </a:p>
          <a:p>
            <a:r>
              <a:t>ESN Mynydd Rhiw Wide Beam Antenna 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Evaluate airborne LTE coverage using Bands 3, 20 and 40</a:t>
            </a:r>
          </a:p>
          <a:p>
            <a:r>
              <a:rPr dirty="0"/>
              <a:t>Assess wide-beam antenna performance at 1,500 / 3,000 / 6,500 / 10,000 ft</a:t>
            </a:r>
          </a:p>
          <a:p>
            <a:r>
              <a:rPr dirty="0">
                <a:highlight>
                  <a:srgbClr val="FFFF00"/>
                </a:highlight>
              </a:rPr>
              <a:t>Assess VoLTE continuity, mobility and RF stability</a:t>
            </a:r>
          </a:p>
          <a:p>
            <a:r>
              <a:rPr dirty="0"/>
              <a:t>Investigate airborne coverage over sea and sector-edge </a:t>
            </a:r>
            <a:r>
              <a:rPr dirty="0" err="1"/>
              <a:t>behaviour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Network &amp; Test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Band 40 intended as primary airborne layer</a:t>
            </a:r>
          </a:p>
          <a:p>
            <a:r>
              <a:rPr dirty="0"/>
              <a:t>Bands 3/20 provide opportunistic terrestrial backfill</a:t>
            </a:r>
          </a:p>
          <a:p>
            <a:r>
              <a:rPr dirty="0"/>
              <a:t>Wide-beam 260° sector with known overlap limitations</a:t>
            </a:r>
          </a:p>
          <a:p>
            <a:r>
              <a:rPr dirty="0"/>
              <a:t>Active test setup introduced approximately 12 dB insertion loss</a:t>
            </a:r>
          </a:p>
          <a:p>
            <a:r>
              <a:rPr dirty="0"/>
              <a:t>Sea-reflection and multipath environment creates challenging RF geometry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Overall </a:t>
            </a:r>
            <a:r>
              <a:rPr dirty="0">
                <a:highlight>
                  <a:srgbClr val="FFFF00"/>
                </a:highlight>
              </a:rPr>
              <a:t>RF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highlight>
                  <a:srgbClr val="FFFF00"/>
                </a:highlight>
              </a:rPr>
              <a:t>Band 40 dominates at medium/high altitude</a:t>
            </a:r>
          </a:p>
          <a:p>
            <a:r>
              <a:rPr dirty="0">
                <a:highlight>
                  <a:srgbClr val="FFFF00"/>
                </a:highlight>
              </a:rPr>
              <a:t>Coverage quality degrades with distance (especially beyond 30–50 km)</a:t>
            </a:r>
          </a:p>
          <a:p>
            <a:r>
              <a:rPr dirty="0">
                <a:highlight>
                  <a:srgbClr val="FFFF00"/>
                </a:highlight>
              </a:rPr>
              <a:t>Sector-edge degradation consist</a:t>
            </a:r>
            <a:r>
              <a:rPr dirty="0"/>
              <a:t>ently observed</a:t>
            </a:r>
          </a:p>
          <a:p>
            <a:r>
              <a:rPr dirty="0">
                <a:highlight>
                  <a:srgbClr val="FFFF00"/>
                </a:highlight>
              </a:rPr>
              <a:t>Left-hand/anticlockwise wide-beam edge is weakest region</a:t>
            </a:r>
          </a:p>
          <a:p>
            <a:r>
              <a:rPr dirty="0">
                <a:highlight>
                  <a:srgbClr val="FFFF00"/>
                </a:highlight>
              </a:rPr>
              <a:t>RSRQ/SINR instability driven by geometry and multipath rather than power alone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highlight>
                  <a:srgbClr val="FFFF00"/>
                </a:highlight>
              </a:rPr>
              <a:t>VoLTE performance </a:t>
            </a:r>
            <a:r>
              <a:rPr dirty="0"/>
              <a:t>substantially </a:t>
            </a:r>
            <a:r>
              <a:rPr dirty="0">
                <a:highlight>
                  <a:srgbClr val="00FFFF"/>
                </a:highlight>
              </a:rPr>
              <a:t>worse</a:t>
            </a:r>
            <a:r>
              <a:rPr dirty="0">
                <a:highlight>
                  <a:srgbClr val="FFFF00"/>
                </a:highlight>
              </a:rPr>
              <a:t> than RF metrics alone suggest</a:t>
            </a:r>
          </a:p>
          <a:p>
            <a:r>
              <a:rPr dirty="0">
                <a:highlight>
                  <a:srgbClr val="FFFF00"/>
                </a:highlight>
              </a:rPr>
              <a:t>Call setup failures and poor MOS concentrated at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WB antenna </a:t>
            </a:r>
            <a:r>
              <a:rPr dirty="0">
                <a:highlight>
                  <a:srgbClr val="FFFF00"/>
                </a:highlight>
              </a:rPr>
              <a:t>sector edges and outer arcs</a:t>
            </a:r>
          </a:p>
          <a:p>
            <a:r>
              <a:rPr dirty="0">
                <a:highlight>
                  <a:srgbClr val="FFFF00"/>
                </a:highlight>
              </a:rPr>
              <a:t>Best operational performance </a:t>
            </a:r>
            <a:r>
              <a:rPr dirty="0"/>
              <a:t>achieved </a:t>
            </a:r>
            <a:r>
              <a:rPr dirty="0">
                <a:highlight>
                  <a:srgbClr val="FFFF00"/>
                </a:highlight>
              </a:rPr>
              <a:t>within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beam </a:t>
            </a:r>
            <a:r>
              <a:rPr dirty="0" err="1">
                <a:highlight>
                  <a:srgbClr val="FFFF00"/>
                </a:highlight>
              </a:rPr>
              <a:t>centre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of the WB </a:t>
            </a:r>
            <a:r>
              <a:rPr dirty="0">
                <a:highlight>
                  <a:srgbClr val="FFFF00"/>
                </a:highlight>
              </a:rPr>
              <a:t>at 10–30 km</a:t>
            </a:r>
          </a:p>
          <a:p>
            <a:r>
              <a:rPr dirty="0">
                <a:highlight>
                  <a:srgbClr val="FFFF00"/>
                </a:highlight>
              </a:rPr>
              <a:t>Performance becomes unreliable at 50–70 km</a:t>
            </a:r>
          </a:p>
          <a:p>
            <a:r>
              <a:rPr dirty="0">
                <a:highlight>
                  <a:srgbClr val="FFFF00"/>
                </a:highlight>
              </a:rPr>
              <a:t>Bands 3/20 assist near land </a:t>
            </a:r>
            <a:r>
              <a:rPr dirty="0"/>
              <a:t>but </a:t>
            </a:r>
            <a:r>
              <a:rPr b="1" dirty="0">
                <a:highlight>
                  <a:srgbClr val="FFFF00"/>
                </a:highlight>
              </a:rPr>
              <a:t>cannot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reliably support </a:t>
            </a:r>
            <a:r>
              <a:rPr dirty="0"/>
              <a:t>airborne service above 500 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Impact of 12 dB Test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highlight>
                  <a:srgbClr val="FFFF00"/>
                </a:highlight>
              </a:rPr>
              <a:t>12 dB loss </a:t>
            </a:r>
            <a:r>
              <a:rPr lang="en-GB" dirty="0"/>
              <a:t>significantly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degraded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measured RSRP, SINR and MOS</a:t>
            </a:r>
          </a:p>
          <a:p>
            <a:r>
              <a:rPr dirty="0"/>
              <a:t>Measured performance represents </a:t>
            </a:r>
            <a:r>
              <a:rPr dirty="0">
                <a:highlight>
                  <a:srgbClr val="FFFF00"/>
                </a:highlight>
              </a:rPr>
              <a:t>conservative/worst-case </a:t>
            </a:r>
            <a:r>
              <a:rPr dirty="0" err="1">
                <a:highlight>
                  <a:srgbClr val="FFFF00"/>
                </a:highlight>
              </a:rPr>
              <a:t>behaviour</a:t>
            </a:r>
            <a:endParaRPr dirty="0">
              <a:highlight>
                <a:srgbClr val="FFFF00"/>
              </a:highlight>
            </a:endParaRPr>
          </a:p>
          <a:p>
            <a:r>
              <a:rPr dirty="0">
                <a:highlight>
                  <a:srgbClr val="FFFF00"/>
                </a:highlight>
              </a:rPr>
              <a:t>Removing 12 dB loss </a:t>
            </a:r>
            <a:r>
              <a:rPr dirty="0"/>
              <a:t>would likely</a:t>
            </a:r>
            <a:r>
              <a:rPr dirty="0">
                <a:highlight>
                  <a:srgbClr val="FFFF00"/>
                </a:highlight>
              </a:rPr>
              <a:t> improve call setup success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MOS</a:t>
            </a:r>
            <a:r>
              <a:rPr dirty="0">
                <a:highlight>
                  <a:srgbClr val="FFFF00"/>
                </a:highlight>
              </a:rPr>
              <a:t> and UL stability</a:t>
            </a:r>
          </a:p>
          <a:p>
            <a:r>
              <a:rPr dirty="0"/>
              <a:t>However,</a:t>
            </a:r>
            <a:r>
              <a:rPr dirty="0">
                <a:highlight>
                  <a:srgbClr val="FFFF00"/>
                </a:highlight>
              </a:rPr>
              <a:t> geometry-driven issues would still remain</a:t>
            </a:r>
          </a:p>
          <a:p>
            <a:r>
              <a:rPr dirty="0">
                <a:highlight>
                  <a:srgbClr val="FFFF00"/>
                </a:highlight>
              </a:rPr>
              <a:t>Poor SINR/RSRQ regions and mobility instability are not purely power-limited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 2.1 – 10,000 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Band 40 dominant across orbit</a:t>
            </a:r>
          </a:p>
          <a:p>
            <a:r>
              <a:rPr dirty="0"/>
              <a:t>Persistent degradation between 130°–220° wide-beam edge</a:t>
            </a:r>
          </a:p>
          <a:p>
            <a:r>
              <a:rPr dirty="0"/>
              <a:t>High BLER, poor SINR and repeated setup failures</a:t>
            </a:r>
          </a:p>
          <a:p>
            <a:r>
              <a:rPr dirty="0"/>
              <a:t>VoLTE continuity unreliable across large portions of orbit</a:t>
            </a:r>
          </a:p>
          <a:p>
            <a:r>
              <a:rPr dirty="0"/>
              <a:t>Confirms geometry-limited sector-edge weakness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 2.2 – 1,500 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Aircraft simultaneously sees many terrestrial eNodeBs</a:t>
            </a:r>
          </a:p>
          <a:p>
            <a:r>
              <a:t>Very high PCI visibility and mobility activity</a:t>
            </a:r>
          </a:p>
          <a:p>
            <a:r>
              <a:t>Band 40 strongest within beam centre</a:t>
            </a:r>
          </a:p>
          <a:p>
            <a:r>
              <a:t>Outer arcs show repeated setup failures and sparse MOS</a:t>
            </a:r>
          </a:p>
          <a:p>
            <a:r>
              <a:t>Bands 3/20 provide limited supplemental coverage near land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 2.3 – 3,000 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 40 dominant serving layer (~90%)</a:t>
            </a:r>
          </a:p>
          <a:p>
            <a:r>
              <a:t>Best RF behaviour within 10–30 km</a:t>
            </a:r>
          </a:p>
          <a:p>
            <a:r>
              <a:t>RF quality degrades progressively toward 50 km and beam edges</a:t>
            </a:r>
          </a:p>
          <a:p>
            <a:r>
              <a:t>10 km arc shows most usable operational behaviour</a:t>
            </a:r>
          </a:p>
          <a:p>
            <a:r>
              <a:t>VoLTE robustness still inconsistent at larger distances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 2.4 – 6,500 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Performance sits between 3,000 ft and 10,000 ft cases</a:t>
            </a:r>
          </a:p>
          <a:p>
            <a:r>
              <a:t>Band 40 sustains inner arcs but deteriorates at 50 km</a:t>
            </a:r>
          </a:p>
          <a:p>
            <a:r>
              <a:t>Limited terrestrial support at this altitude</a:t>
            </a:r>
          </a:p>
          <a:p>
            <a:r>
              <a:t>Predominantly poor MOS despite acceptable RF in beam centre</a:t>
            </a:r>
          </a:p>
          <a:p>
            <a:r>
              <a:t>Strong evidence of geometry-driven service limitations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00200"/>
            <a:ext cx="8432800" cy="4525963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highlight>
                  <a:srgbClr val="FFFF00"/>
                </a:highlight>
              </a:rPr>
              <a:t>Mobility environment highly complex due to large </a:t>
            </a:r>
            <a:r>
              <a:rPr dirty="0"/>
              <a:t>airborne</a:t>
            </a:r>
            <a:r>
              <a:rPr dirty="0">
                <a:highlight>
                  <a:srgbClr val="FFFF00"/>
                </a:highlight>
              </a:rPr>
              <a:t> radio horizon</a:t>
            </a:r>
          </a:p>
          <a:p>
            <a:r>
              <a:rPr dirty="0">
                <a:highlight>
                  <a:srgbClr val="FFFF00"/>
                </a:highlight>
              </a:rPr>
              <a:t>Aircraft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UE</a:t>
            </a:r>
            <a:r>
              <a:rPr dirty="0">
                <a:highlight>
                  <a:srgbClr val="FFFF00"/>
                </a:highlight>
              </a:rPr>
              <a:t> detects many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B3/B20 </a:t>
            </a:r>
            <a:r>
              <a:rPr dirty="0" err="1">
                <a:highlight>
                  <a:srgbClr val="FFFF00"/>
                </a:highlight>
              </a:rPr>
              <a:t>eNodeBs</a:t>
            </a:r>
            <a:r>
              <a:rPr lang="en-GB" dirty="0">
                <a:highlight>
                  <a:srgbClr val="FFFF00"/>
                </a:highlight>
              </a:rPr>
              <a:t> simultaneously</a:t>
            </a:r>
            <a:endParaRPr dirty="0">
              <a:highlight>
                <a:srgbClr val="FFFF00"/>
              </a:highlight>
            </a:endParaRPr>
          </a:p>
          <a:p>
            <a:r>
              <a:rPr dirty="0">
                <a:highlight>
                  <a:srgbClr val="FFFF00"/>
                </a:highlight>
              </a:rPr>
              <a:t>High intra-LTE handover activity </a:t>
            </a:r>
            <a:r>
              <a:rPr dirty="0"/>
              <a:t>indicates</a:t>
            </a:r>
            <a:r>
              <a:rPr dirty="0">
                <a:highlight>
                  <a:srgbClr val="FFFF00"/>
                </a:highlight>
              </a:rPr>
              <a:t> unstable serving-</a:t>
            </a:r>
            <a:r>
              <a:rPr lang="en-GB" dirty="0" err="1">
                <a:highlight>
                  <a:srgbClr val="FFFF00"/>
                </a:highlight>
              </a:rPr>
              <a:t>eNodeB</a:t>
            </a:r>
            <a:r>
              <a:rPr dirty="0">
                <a:highlight>
                  <a:srgbClr val="FFFF00"/>
                </a:highlight>
              </a:rPr>
              <a:t> dominance</a:t>
            </a:r>
          </a:p>
          <a:p>
            <a:r>
              <a:rPr dirty="0">
                <a:highlight>
                  <a:srgbClr val="FFFF00"/>
                </a:highlight>
              </a:rPr>
              <a:t>PCI-to-same-PCI events may represent RRC reconfiguration or failed HO attempts</a:t>
            </a:r>
          </a:p>
          <a:p>
            <a:r>
              <a:rPr dirty="0">
                <a:highlight>
                  <a:srgbClr val="FFFF00"/>
                </a:highlight>
              </a:rPr>
              <a:t>Inter-frequency mobility </a:t>
            </a:r>
            <a:r>
              <a:rPr dirty="0"/>
              <a:t>conclusions require dedicated evidence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IMPROVE PLOTS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highlight>
                  <a:srgbClr val="FFFF00"/>
                </a:highlight>
              </a:rPr>
              <a:t>Coverage limitations are fundamentally geometry-driven</a:t>
            </a:r>
          </a:p>
          <a:p>
            <a:r>
              <a:rPr dirty="0">
                <a:highlight>
                  <a:srgbClr val="FFFF00"/>
                </a:highlight>
              </a:rPr>
              <a:t>Wide-beam antenna extends </a:t>
            </a:r>
            <a:r>
              <a:rPr dirty="0"/>
              <a:t>airborne </a:t>
            </a:r>
            <a:r>
              <a:rPr dirty="0">
                <a:highlight>
                  <a:srgbClr val="FFFF00"/>
                </a:highlight>
              </a:rPr>
              <a:t>coverage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but edge quality remains unstable</a:t>
            </a:r>
          </a:p>
          <a:p>
            <a:r>
              <a:rPr dirty="0">
                <a:highlight>
                  <a:srgbClr val="FFFF00"/>
                </a:highlight>
              </a:rPr>
              <a:t>Sea reflections and multipath strongly affect RSRQ/SINR</a:t>
            </a:r>
          </a:p>
          <a:p>
            <a:r>
              <a:rPr dirty="0">
                <a:highlight>
                  <a:srgbClr val="FFFF00"/>
                </a:highlight>
              </a:rPr>
              <a:t>Removing the 12 dB loss would improve results but not eliminate instability</a:t>
            </a:r>
          </a:p>
          <a:p>
            <a:r>
              <a:rPr dirty="0">
                <a:highlight>
                  <a:srgbClr val="FFFF00"/>
                </a:highlight>
              </a:rPr>
              <a:t>Findings are consistent with Test Case 1 passive measurements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highlight>
                  <a:srgbClr val="FFFF00"/>
                </a:highlight>
              </a:rPr>
              <a:t>Evaluate</a:t>
            </a:r>
            <a:r>
              <a:rPr dirty="0"/>
              <a:t> ~5° anticlockwise </a:t>
            </a:r>
            <a:r>
              <a:rPr dirty="0">
                <a:highlight>
                  <a:srgbClr val="FFFF00"/>
                </a:highlight>
              </a:rPr>
              <a:t>azimuth </a:t>
            </a:r>
            <a:r>
              <a:rPr dirty="0" err="1">
                <a:highlight>
                  <a:srgbClr val="FFFF00"/>
                </a:highlight>
              </a:rPr>
              <a:t>optimisation</a:t>
            </a:r>
            <a:endParaRPr dirty="0">
              <a:highlight>
                <a:srgbClr val="FFFF00"/>
              </a:highlight>
            </a:endParaRPr>
          </a:p>
          <a:p>
            <a:r>
              <a:rPr dirty="0">
                <a:highlight>
                  <a:srgbClr val="FFFF00"/>
                </a:highlight>
              </a:rPr>
              <a:t>Investigate small tilt </a:t>
            </a:r>
            <a:r>
              <a:rPr dirty="0" err="1">
                <a:highlight>
                  <a:srgbClr val="FFFF00"/>
                </a:highlight>
              </a:rPr>
              <a:t>optimisation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/>
              <a:t>for edge SINR improvement</a:t>
            </a:r>
          </a:p>
          <a:p>
            <a:r>
              <a:rPr dirty="0"/>
              <a:t>Review </a:t>
            </a:r>
            <a:r>
              <a:rPr dirty="0" err="1"/>
              <a:t>neighbour</a:t>
            </a:r>
            <a:r>
              <a:rPr dirty="0"/>
              <a:t> relations and airborne mobility tuning</a:t>
            </a:r>
          </a:p>
          <a:p>
            <a:r>
              <a:rPr dirty="0">
                <a:highlight>
                  <a:srgbClr val="FFFF00"/>
                </a:highlight>
              </a:rPr>
              <a:t>Repeat selected flights with reduced insertion loss</a:t>
            </a:r>
          </a:p>
          <a:p>
            <a:r>
              <a:rPr dirty="0">
                <a:highlight>
                  <a:srgbClr val="FFFF00"/>
                </a:highlight>
              </a:rPr>
              <a:t>Focus </a:t>
            </a:r>
            <a:r>
              <a:rPr dirty="0" err="1">
                <a:highlight>
                  <a:srgbClr val="FFFF00"/>
                </a:highlight>
              </a:rPr>
              <a:t>optimisation</a:t>
            </a:r>
            <a:r>
              <a:rPr dirty="0">
                <a:highlight>
                  <a:srgbClr val="FFFF00"/>
                </a:highlight>
              </a:rPr>
              <a:t> on </a:t>
            </a:r>
            <a:r>
              <a:rPr lang="en-GB" dirty="0" err="1">
                <a:highlight>
                  <a:srgbClr val="FFFF00"/>
                </a:highlight>
              </a:rPr>
              <a:t>wb</a:t>
            </a:r>
            <a:r>
              <a:rPr lang="en-GB" dirty="0">
                <a:highlight>
                  <a:srgbClr val="FFFF00"/>
                </a:highlight>
              </a:rPr>
              <a:t> ant </a:t>
            </a:r>
            <a:r>
              <a:rPr dirty="0">
                <a:highlight>
                  <a:srgbClr val="FFFF00"/>
                </a:highlight>
              </a:rPr>
              <a:t>beam edges </a:t>
            </a:r>
            <a:r>
              <a:rPr dirty="0"/>
              <a:t>and 30–50 km offshore regions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9393-4E80-0480-B9CF-E8F2218E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14BE-1DEF-B4F1-E3E1-05B31C01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89C2-06BC-30C3-687C-BFDFB33BA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INTRA-LTE HO TBD</a:t>
            </a:r>
          </a:p>
          <a:p>
            <a:r>
              <a:rPr lang="en-GB" b="1" dirty="0"/>
              <a:t>5</a:t>
            </a:r>
            <a:r>
              <a:rPr lang="en-GB" b="1" dirty="0">
                <a:highlight>
                  <a:srgbClr val="FFFF00"/>
                </a:highlight>
              </a:rPr>
              <a:t>. Interpretation of PCI to same PCI intra-LTE handovers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dirty="0"/>
              <a:t>The Intra-LTE handover figures show a </a:t>
            </a:r>
            <a:r>
              <a:rPr lang="en-GB" dirty="0">
                <a:highlight>
                  <a:srgbClr val="FFFF00"/>
                </a:highlight>
              </a:rPr>
              <a:t>high number of PCI to same PCI intra-LTE handovers</a:t>
            </a:r>
            <a:r>
              <a:rPr lang="en-GB" dirty="0"/>
              <a:t>, likely to be </a:t>
            </a:r>
            <a:r>
              <a:rPr lang="en-GB" dirty="0">
                <a:highlight>
                  <a:srgbClr val="FFFF00"/>
                </a:highlight>
              </a:rPr>
              <a:t>RRC connection reconfiguration without actual </a:t>
            </a:r>
            <a:r>
              <a:rPr lang="en-GB" dirty="0" err="1">
                <a:highlight>
                  <a:srgbClr val="FFFF00"/>
                </a:highlight>
              </a:rPr>
              <a:t>eNodeB</a:t>
            </a:r>
            <a:r>
              <a:rPr lang="en-GB" dirty="0">
                <a:highlight>
                  <a:srgbClr val="FFFF00"/>
                </a:highlight>
              </a:rPr>
              <a:t> change, or a handover failure which is triggered and partially executed but then fails with UE falling back to the original PCI.</a:t>
            </a:r>
          </a:p>
          <a:p>
            <a:r>
              <a:rPr lang="en-GB" dirty="0"/>
              <a:t>There are also few instances where serving PCI changes can be observed without corresponding intra-LTE handover events on the plots. This may be because XCAP may be using different definitions for serving cell change (</a:t>
            </a:r>
            <a:r>
              <a:rPr lang="en-GB" dirty="0">
                <a:highlight>
                  <a:srgbClr val="FFFF00"/>
                </a:highlight>
              </a:rPr>
              <a:t>RF driven) </a:t>
            </a:r>
            <a:r>
              <a:rPr lang="en-GB" dirty="0"/>
              <a:t>versus handover event (</a:t>
            </a:r>
            <a:r>
              <a:rPr lang="en-GB" dirty="0">
                <a:highlight>
                  <a:srgbClr val="FFFF00"/>
                </a:highlight>
              </a:rPr>
              <a:t>protocol driven</a:t>
            </a:r>
            <a:r>
              <a:rPr lang="en-GB" dirty="0"/>
              <a:t>), or because these are inter-LTE handover evens that are not captured</a:t>
            </a:r>
            <a:r>
              <a:rPr lang="en-GB" b="1" dirty="0"/>
              <a:t> </a:t>
            </a:r>
            <a:r>
              <a:rPr lang="en-GB" dirty="0"/>
              <a:t>by the intra-LTE HO plots. </a:t>
            </a:r>
          </a:p>
          <a:p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22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703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LTE Air-to-Ground Test Case 2</vt:lpstr>
      <vt:lpstr>Test Objectives</vt:lpstr>
      <vt:lpstr>Key Network &amp; Test Conditions</vt:lpstr>
      <vt:lpstr>Overall RF Findings</vt:lpstr>
      <vt:lpstr>Operational Findings</vt:lpstr>
      <vt:lpstr>Impact of 12 dB Test Loss</vt:lpstr>
      <vt:lpstr>Serial 2.1 – 10,000 ft</vt:lpstr>
      <vt:lpstr>Serial 2.2 – 1,500 ft</vt:lpstr>
      <vt:lpstr>Serial 2.3 – 3,000 ft</vt:lpstr>
      <vt:lpstr>Serial 2.4 – 6,500 ft</vt:lpstr>
      <vt:lpstr>Mobility Assessment</vt:lpstr>
      <vt:lpstr>Key Technical Conclusions</vt:lpstr>
      <vt:lpstr>Recommendations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Golden Sunshine</cp:lastModifiedBy>
  <cp:revision>4</cp:revision>
  <dcterms:created xsi:type="dcterms:W3CDTF">2013-01-27T09:14:16Z</dcterms:created>
  <dcterms:modified xsi:type="dcterms:W3CDTF">2026-05-27T19:06:17Z</dcterms:modified>
  <cp:category/>
</cp:coreProperties>
</file>