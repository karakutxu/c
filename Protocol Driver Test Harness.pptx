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2" r:id="rId3"/>
    <p:sldId id="259" r:id="rId4"/>
    <p:sldId id="273" r:id="rId5"/>
    <p:sldId id="256" r:id="rId6"/>
    <p:sldId id="263" r:id="rId7"/>
    <p:sldId id="265" r:id="rId8"/>
    <p:sldId id="266" r:id="rId9"/>
    <p:sldId id="268" r:id="rId10"/>
    <p:sldId id="261" r:id="rId11"/>
    <p:sldId id="262" r:id="rId12"/>
    <p:sldId id="267" r:id="rId13"/>
    <p:sldId id="270" r:id="rId14"/>
    <p:sldId id="271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27C2-A731-31C3-63D2-2FBD46B92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FF643-905A-13BF-C56B-AD04011E2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027F7-5A7E-49DF-F524-49BEB116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45CD-A19A-750B-06A5-6A161BED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1E00B-3E54-4F3B-EB89-AF6B8CF9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25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5D44-8B5C-C6C4-D332-7846196C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A4F7-229E-AF63-A464-3456EE752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D13C-310D-B09A-333B-2842B684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F89F2-4FA1-C13D-4A12-EC308D20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2CA6A-2F85-F840-F884-DBFD2CCB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5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C30-07B9-C506-87FB-7A34A7C4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96C51-DCE8-EB2D-C6BE-9AA7A0BD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E1E01-C2B2-EE45-364A-6A27F4AA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62F2E-1B40-CA89-132D-79B80A64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E1BE-7A51-8815-83C0-B5B7C8D6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911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5768-6BBC-9D13-BE87-E2B23977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8E9F-6D47-0874-F395-0724885A7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D6F14-AA26-3BAF-8A82-BF5689D2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8E9EA-C222-5B81-9944-8BD47370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113DA-B2F3-7C8A-4164-EA342245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33345-AA67-B6B6-C8D1-80B2A2EC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12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19B1-4BEA-763A-7B13-02D503EE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084FA-8339-5E6D-C702-FD393FAF9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1FF2A-BDD7-6726-EC25-5D5E56BFF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6B8E9-2176-C130-E3CB-2718AFC4E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541D6-DF2E-B6D7-A7A8-A64CCEB19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729EF-8423-1DB7-1F72-AF0CF96C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08722-F981-AD31-9B86-5E59F516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2412A-BCE6-DC2E-7634-8CE0AB0E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81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4D84-0624-4EF1-6D90-28143682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B1932-0AB4-E0FF-5429-12E2B4C4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BA116-42AC-8BEE-654F-DB70A23D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6FC3F-3F59-1FCD-3205-F77A2549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476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8B4C-CDDE-5926-4D27-E8840B01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F3AF5-88FF-21AD-9BBD-726E29B4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3C3A6-2C1D-D70A-6FA1-76CC404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32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C64D-9CFC-3FBE-D95E-8FA2731D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CC004-FCEA-7564-84F9-7EF98E65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08D44-9D7B-4DF5-F269-45A25D9C0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DFDB6-1334-BD8A-2899-7EB0813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3B9B5-A2F7-544E-8A4C-14EB969B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6B7FB-7C28-5A2D-88C5-109640FE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75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471D-BBE7-AE34-D045-AD0F899F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0B964-6A8A-3831-8300-19D8039A0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65210-7CB2-3A81-6A06-269C83E7D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455E2-69B0-1DCA-3E28-8A4981D2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D9DB0-5344-C641-660D-10B4A35A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A3B34-4645-3288-B7C5-4B54211D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80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3D72-B6A8-1D0C-852F-9EBF355A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AAC3A-B0BF-53AB-4741-F9D70635E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1DE91-3895-ACC3-27E1-F14FB26A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3CB85-D7B1-AE4A-1B0B-0C321726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3FB2D-F30D-62A0-97A2-71905EAF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26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4FCCD-8A5C-3F3C-46CC-C73226596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C4124-1E93-A809-14DA-762D654CB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B4BF-A292-47D1-1BAD-73022814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84CDB-DA4E-B3E8-4C55-AF4DA329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DCE0-8259-3CF7-6557-C807CD27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5EF708-E385-6D96-0FB2-BAE4D5B0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BCBC9-67BB-94CA-5E9B-1DE976DBA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4E55D-7248-F29E-B737-338C7378B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A012-58C3-4B8C-9C1D-C0C26DCBE33B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15F9F-46EE-BA99-5035-1D6EEE275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AFD23-7350-6E33-A6EC-F9F669C9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03AE3-57C4-4CA3-9ACD-C096E5C67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55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5A34-C62C-650E-6A45-337936CB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4498-98F2-4239-6CBF-4183B2BB4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0107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4EDDF-8863-7BFB-1646-C716B9AB1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9" y="1132115"/>
            <a:ext cx="11299371" cy="511628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Process A → tun0 → kernel(ns1) → </a:t>
            </a:r>
            <a:r>
              <a:rPr lang="en-GB" dirty="0" err="1"/>
              <a:t>veth</a:t>
            </a:r>
            <a:r>
              <a:rPr lang="en-GB" dirty="0"/>
              <a:t> → kernel(ns2) → tun1 → Process 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B4F7C-CA35-21FA-976D-127A11E55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819" y="1524000"/>
            <a:ext cx="4546304" cy="49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1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D22A-0EF5-23C8-E3BD-F1DAD463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D16151-71E0-28E5-5B0D-29B37328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600" y="1857129"/>
            <a:ext cx="7903621" cy="48811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03A782-F5D0-DA63-1802-062351EBD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743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7A0F-38D8-B302-E829-58028570B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9" y="1023257"/>
            <a:ext cx="11443544" cy="5715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Process </a:t>
            </a:r>
            <a:r>
              <a:rPr lang="en-GB" dirty="0">
                <a:solidFill>
                  <a:srgbClr val="FF0000"/>
                </a:solidFill>
              </a:rPr>
              <a:t>A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→ tun0 → kernel(ns1) → </a:t>
            </a:r>
            <a:r>
              <a:rPr lang="en-GB" dirty="0" err="1"/>
              <a:t>veth</a:t>
            </a:r>
            <a:r>
              <a:rPr lang="en-GB" dirty="0"/>
              <a:t> → kernel(ns2) → tun1 → </a:t>
            </a:r>
            <a:r>
              <a:rPr lang="en-GB" dirty="0">
                <a:solidFill>
                  <a:srgbClr val="0070C0"/>
                </a:solidFill>
              </a:rPr>
              <a:t>Process </a:t>
            </a:r>
            <a:r>
              <a:rPr lang="en-GB" dirty="0">
                <a:solidFill>
                  <a:srgbClr val="FF0000"/>
                </a:solidFill>
              </a:rPr>
              <a:t>B</a:t>
            </a:r>
          </a:p>
          <a:p>
            <a:pPr algn="l"/>
            <a:r>
              <a:rPr lang="en-GB" dirty="0"/>
              <a:t>  </a:t>
            </a:r>
            <a:r>
              <a:rPr lang="en-GB" dirty="0" err="1">
                <a:solidFill>
                  <a:srgbClr val="0070C0"/>
                </a:solidFill>
              </a:rPr>
              <a:t>proto_input</a:t>
            </a:r>
            <a:r>
              <a:rPr lang="en-GB" dirty="0">
                <a:solidFill>
                  <a:srgbClr val="0070C0"/>
                </a:solidFill>
              </a:rPr>
              <a:t>(tun write)                                                                     </a:t>
            </a:r>
            <a:r>
              <a:rPr lang="en-GB" dirty="0" err="1">
                <a:solidFill>
                  <a:srgbClr val="0070C0"/>
                </a:solidFill>
              </a:rPr>
              <a:t>proto_ouput</a:t>
            </a:r>
            <a:r>
              <a:rPr lang="en-GB" dirty="0">
                <a:solidFill>
                  <a:srgbClr val="0070C0"/>
                </a:solidFill>
              </a:rPr>
              <a:t>(tun read)</a:t>
            </a:r>
          </a:p>
          <a:p>
            <a:pPr algn="l"/>
            <a:endParaRPr lang="en-GB" dirty="0"/>
          </a:p>
          <a:p>
            <a:pPr algn="l"/>
            <a:endParaRPr lang="en-GB" sz="2000" dirty="0"/>
          </a:p>
          <a:p>
            <a:pPr algn="l"/>
            <a:r>
              <a:rPr lang="en-GB" sz="2000" dirty="0"/>
              <a:t>						No direct path </a:t>
            </a:r>
            <a:r>
              <a:rPr lang="en-GB" sz="2000" dirty="0" err="1"/>
              <a:t>proto_input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FF0000"/>
                </a:solidFill>
              </a:rPr>
              <a:t>A</a:t>
            </a:r>
            <a:r>
              <a:rPr lang="en-GB" sz="2000" dirty="0"/>
              <a:t>) -&gt; </a:t>
            </a:r>
            <a:r>
              <a:rPr lang="en-GB" sz="2000" dirty="0" err="1"/>
              <a:t>proto_output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FF0000"/>
                </a:solidFill>
              </a:rPr>
              <a:t>A</a:t>
            </a:r>
            <a:r>
              <a:rPr lang="en-GB" sz="2000" dirty="0"/>
              <a:t>)</a:t>
            </a:r>
            <a:endParaRPr lang="en-GB" dirty="0"/>
          </a:p>
          <a:p>
            <a:pPr algn="l"/>
            <a:r>
              <a:rPr lang="en-GB" sz="2000" dirty="0"/>
              <a:t>						No direct path </a:t>
            </a:r>
            <a:r>
              <a:rPr lang="en-GB" sz="2000" dirty="0" err="1"/>
              <a:t>proto_output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FF0000"/>
                </a:solidFill>
              </a:rPr>
              <a:t>A</a:t>
            </a:r>
            <a:r>
              <a:rPr lang="en-GB" sz="2000" dirty="0"/>
              <a:t>) -&gt; </a:t>
            </a:r>
            <a:r>
              <a:rPr lang="en-GB" sz="2000" dirty="0" err="1"/>
              <a:t>proto_input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FF0000"/>
                </a:solidFill>
              </a:rPr>
              <a:t>B</a:t>
            </a:r>
            <a:r>
              <a:rPr lang="en-GB" dirty="0"/>
              <a:t>)</a:t>
            </a:r>
          </a:p>
          <a:p>
            <a:pPr algn="l"/>
            <a:r>
              <a:rPr lang="en-GB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11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78D6-6CD3-709D-D009-E1CFCA7E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53C1-D4AA-F0AA-B086-C71E9E29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884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781C0-ADC5-C716-BBF9-69923FE77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652009"/>
            <a:ext cx="11451771" cy="5596392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Emulation of the boundary between protocol driver </a:t>
            </a:r>
            <a:r>
              <a:rPr lang="en-GB" dirty="0">
                <a:sym typeface="Wingdings" panose="05000000000000000000" pitchFamily="2" charset="2"/>
              </a:rPr>
              <a:t>&lt;--&gt; network stack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TX and RX are fully separated into independent processes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The working example uses two separate namespaces : ns1 (tun0, veth0) and ns2 (tun1, veth1)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Each namespace owns exactly one TUN interface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A TUN device gives you: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packet injection into kernel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packet extraction from kernel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Routing causes packets written on one TUN to cross the kernel network stack and come out on the other namespace’s TUN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One process writes to tun0; another process reads from tun1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Linux transports packets between namespaces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Emulates a routed topology using: separate namespaces, </a:t>
            </a:r>
            <a:r>
              <a:rPr lang="en-GB" dirty="0" err="1"/>
              <a:t>veth</a:t>
            </a:r>
            <a:r>
              <a:rPr lang="en-GB" dirty="0"/>
              <a:t> transport, explicit next-hop routes separate TX/RX processes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NOTE: a TUN interface it is a </a:t>
            </a:r>
            <a:r>
              <a:rPr lang="en-GB" dirty="0" err="1"/>
              <a:t>userspace</a:t>
            </a:r>
            <a:r>
              <a:rPr lang="en-GB" dirty="0"/>
              <a:t> endpoint attached to the kernel IP stack (</a:t>
            </a:r>
            <a:r>
              <a:rPr lang="en-GB" dirty="0" err="1"/>
              <a:t>userspace</a:t>
            </a:r>
            <a:r>
              <a:rPr lang="en-GB" dirty="0"/>
              <a:t> &lt;-&gt; kernel IP stack), and not a pipe between processes (</a:t>
            </a:r>
            <a:r>
              <a:rPr lang="en-GB" dirty="0" err="1"/>
              <a:t>userspace</a:t>
            </a:r>
            <a:r>
              <a:rPr lang="en-GB" dirty="0"/>
              <a:t> &lt;-&gt; </a:t>
            </a:r>
            <a:r>
              <a:rPr lang="en-GB" dirty="0" err="1"/>
              <a:t>userspace</a:t>
            </a:r>
            <a:r>
              <a:rPr lang="en-GB" dirty="0"/>
              <a:t>) so without a </a:t>
            </a:r>
            <a:r>
              <a:rPr lang="en-GB" dirty="0" err="1"/>
              <a:t>veth</a:t>
            </a:r>
            <a:r>
              <a:rPr lang="en-GB" dirty="0"/>
              <a:t> pair (or some other L2/L3 transport path), Linux has no physical/logical path between namespaces.</a:t>
            </a:r>
          </a:p>
        </p:txBody>
      </p:sp>
    </p:spTree>
    <p:extLst>
      <p:ext uri="{BB962C8B-B14F-4D97-AF65-F5344CB8AC3E}">
        <p14:creationId xmlns:p14="http://schemas.microsoft.com/office/powerpoint/2010/main" val="270008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1C56D-BBC6-7DE4-0F8C-F95071D4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4F85-78AA-5797-8100-2EF81CF09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884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 – VETH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82819-6B47-BF7F-EC6C-23A78936D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1251857"/>
            <a:ext cx="11451771" cy="4996544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veth</a:t>
            </a:r>
            <a:r>
              <a:rPr lang="en-GB" dirty="0"/>
              <a:t> is now ONLY infrastructure transport for this demo (not the same as production routing)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The namespaces + </a:t>
            </a:r>
            <a:r>
              <a:rPr lang="en-GB" dirty="0" err="1"/>
              <a:t>veth</a:t>
            </a:r>
            <a:r>
              <a:rPr lang="en-GB" dirty="0"/>
              <a:t> pair create a true forwarding path.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in production we'll have legacy protocol transport (raw IP / UDP) + legacy routing tables</a:t>
            </a:r>
          </a:p>
        </p:txBody>
      </p:sp>
    </p:spTree>
    <p:extLst>
      <p:ext uri="{BB962C8B-B14F-4D97-AF65-F5344CB8AC3E}">
        <p14:creationId xmlns:p14="http://schemas.microsoft.com/office/powerpoint/2010/main" val="320968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0D6F-49D9-3167-9FC2-EA1E9C8CA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2AD8F-6489-2340-31E1-0A789EB41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9" y="652009"/>
            <a:ext cx="11299371" cy="559639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Process A → tun0 → kernel(ns1) → </a:t>
            </a:r>
            <a:r>
              <a:rPr lang="en-GB" dirty="0" err="1"/>
              <a:t>veth</a:t>
            </a:r>
            <a:r>
              <a:rPr lang="en-GB" dirty="0"/>
              <a:t> → kernel(ns2) → tun1 → Process B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ns1:					ns2:</a:t>
            </a:r>
            <a:br>
              <a:rPr lang="de-DE" dirty="0"/>
            </a:br>
            <a:r>
              <a:rPr lang="de-DE" dirty="0"/>
              <a:t>tun0 10.0.0.1				tun1 10.0.1.1</a:t>
            </a:r>
            <a:br>
              <a:rPr lang="de-DE" dirty="0"/>
            </a:br>
            <a:r>
              <a:rPr lang="de-DE" dirty="0"/>
              <a:t>veth0 192.168.0.1			 	veth1 192.168.0.2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proto_input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/>
              <a:t>	-&gt; write(</a:t>
            </a:r>
            <a:r>
              <a:rPr lang="en-GB" dirty="0" err="1"/>
              <a:t>tunA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		-&gt; Linux kernel IP stack</a:t>
            </a:r>
            <a:br>
              <a:rPr lang="en-GB" dirty="0"/>
            </a:br>
            <a:r>
              <a:rPr lang="en-GB" dirty="0"/>
              <a:t>			-&gt; routing/</a:t>
            </a:r>
            <a:r>
              <a:rPr lang="en-GB" dirty="0" err="1"/>
              <a:t>veth</a:t>
            </a:r>
            <a:r>
              <a:rPr lang="en-GB" dirty="0"/>
              <a:t>/ns forwarding</a:t>
            </a:r>
            <a:br>
              <a:rPr lang="en-GB" dirty="0"/>
            </a:br>
            <a:r>
              <a:rPr lang="en-GB" dirty="0"/>
              <a:t>				-&gt; packet appears on </a:t>
            </a:r>
            <a:r>
              <a:rPr lang="en-GB" dirty="0" err="1"/>
              <a:t>tunB</a:t>
            </a:r>
            <a:br>
              <a:rPr lang="en-GB" dirty="0"/>
            </a:br>
            <a:r>
              <a:rPr lang="en-GB" dirty="0"/>
              <a:t>					-&gt; </a:t>
            </a:r>
            <a:r>
              <a:rPr lang="en-GB" dirty="0" err="1"/>
              <a:t>proto_output</a:t>
            </a:r>
            <a:r>
              <a:rPr lang="en-GB" dirty="0"/>
              <a:t>(B)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Data path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User-space injects packets via TUN (into tun0)</a:t>
            </a:r>
            <a:br>
              <a:rPr lang="en-GB" dirty="0"/>
            </a:br>
            <a:r>
              <a:rPr lang="en-GB" dirty="0"/>
              <a:t>Kernel performs routing/forwarding</a:t>
            </a:r>
            <a:br>
              <a:rPr lang="en-GB" dirty="0"/>
            </a:br>
            <a:r>
              <a:rPr lang="en-GB" dirty="0"/>
              <a:t>Another user-space endpoint receives packet vis TUN (from tun1)</a:t>
            </a:r>
            <a:br>
              <a:rPr lang="en-GB" dirty="0"/>
            </a:br>
            <a:r>
              <a:rPr lang="en-GB" dirty="0"/>
              <a:t>Payload validated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22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173E-05AB-745F-CBAD-5E64C33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733D-E16E-60CB-106B-1EDFB90CC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884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RUN V4 (</a:t>
            </a:r>
            <a:r>
              <a:rPr lang="en-GB" sz="3200" b="1" dirty="0" err="1"/>
              <a:t>tun_ns_test.c</a:t>
            </a:r>
            <a:r>
              <a:rPr lang="en-GB" sz="3200" b="1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577FB-0FBD-3CE6-D71E-3B4A46083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652009"/>
            <a:ext cx="11451771" cy="559639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Namespace setup: create namespaces, create </a:t>
            </a:r>
            <a:r>
              <a:rPr lang="en-GB" dirty="0" err="1"/>
              <a:t>veth</a:t>
            </a:r>
            <a:r>
              <a:rPr lang="en-GB" dirty="0"/>
              <a:t> pair, move </a:t>
            </a:r>
            <a:r>
              <a:rPr lang="en-GB" dirty="0" err="1"/>
              <a:t>veth</a:t>
            </a:r>
            <a:r>
              <a:rPr lang="en-GB" dirty="0"/>
              <a:t> into namespaces, and configures ns1/ns2</a:t>
            </a:r>
          </a:p>
          <a:p>
            <a:pPr algn="l"/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bash setup_netns.sh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Terminal 1 (receiver)</a:t>
            </a:r>
          </a:p>
          <a:p>
            <a:pPr algn="l"/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ip</a:t>
            </a:r>
            <a:r>
              <a:rPr lang="en-GB" dirty="0"/>
              <a:t> </a:t>
            </a:r>
            <a:r>
              <a:rPr lang="en-GB" dirty="0" err="1"/>
              <a:t>netns</a:t>
            </a:r>
            <a:r>
              <a:rPr lang="en-GB" dirty="0"/>
              <a:t> exec ns2 ./</a:t>
            </a:r>
            <a:r>
              <a:rPr lang="en-GB" dirty="0" err="1"/>
              <a:t>proto_kernel_test</a:t>
            </a:r>
            <a:r>
              <a:rPr lang="en-GB" dirty="0"/>
              <a:t> 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Terminal 2 (sender)</a:t>
            </a:r>
          </a:p>
          <a:p>
            <a:pPr algn="l"/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ip</a:t>
            </a:r>
            <a:r>
              <a:rPr lang="en-GB" dirty="0"/>
              <a:t> </a:t>
            </a:r>
            <a:r>
              <a:rPr lang="en-GB" dirty="0" err="1"/>
              <a:t>netns</a:t>
            </a:r>
            <a:r>
              <a:rPr lang="en-GB" dirty="0"/>
              <a:t> exec ns1 ./</a:t>
            </a:r>
            <a:r>
              <a:rPr lang="en-GB" dirty="0" err="1"/>
              <a:t>proto_kernel_test</a:t>
            </a:r>
            <a:r>
              <a:rPr lang="en-GB" dirty="0"/>
              <a:t> 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Receiver Output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RX: waiting...</a:t>
            </a:r>
            <a:br>
              <a:rPr lang="en-GB" dirty="0"/>
            </a:br>
            <a:r>
              <a:rPr lang="en-GB" dirty="0"/>
              <a:t>RX: got packet </a:t>
            </a:r>
            <a:r>
              <a:rPr lang="en-GB" dirty="0" err="1"/>
              <a:t>len</a:t>
            </a:r>
            <a:r>
              <a:rPr lang="en-GB" dirty="0"/>
              <a:t>=24</a:t>
            </a:r>
            <a:br>
              <a:rPr lang="en-GB" dirty="0"/>
            </a:br>
            <a:r>
              <a:rPr lang="en-GB" dirty="0"/>
              <a:t>payload: TEST</a:t>
            </a:r>
            <a:br>
              <a:rPr lang="en-GB" dirty="0"/>
            </a:br>
            <a:r>
              <a:rPr lang="en-GB" dirty="0" err="1"/>
              <a:t>TEST</a:t>
            </a:r>
            <a:r>
              <a:rPr lang="en-GB" dirty="0"/>
              <a:t> PASSED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Sender Output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TX: sending packet</a:t>
            </a:r>
            <a:br>
              <a:rPr lang="en-GB" dirty="0"/>
            </a:br>
            <a:r>
              <a:rPr lang="en-GB" dirty="0"/>
              <a:t>TX done</a:t>
            </a:r>
          </a:p>
        </p:txBody>
      </p:sp>
    </p:spTree>
    <p:extLst>
      <p:ext uri="{BB962C8B-B14F-4D97-AF65-F5344CB8AC3E}">
        <p14:creationId xmlns:p14="http://schemas.microsoft.com/office/powerpoint/2010/main" val="15997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8624-202C-817D-0372-C605D4FD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1C6E-62AF-76AF-45C7-95FEA4644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V4 (</a:t>
            </a:r>
            <a:r>
              <a:rPr lang="en-GB" sz="3200" b="1" dirty="0" err="1"/>
              <a:t>tun_ns_test.c</a:t>
            </a:r>
            <a:r>
              <a:rPr lang="en-GB" sz="3200" b="1" dirty="0"/>
              <a:t>) PACKET FLOW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2429F-4478-46E2-364B-04B359247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9" y="652008"/>
            <a:ext cx="11299371" cy="5966505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Process A → tun0 → kernel(ns1) → </a:t>
            </a:r>
            <a:r>
              <a:rPr lang="en-GB" dirty="0" err="1"/>
              <a:t>veth</a:t>
            </a:r>
            <a:r>
              <a:rPr lang="en-GB" dirty="0"/>
              <a:t> → kernel(ns2) → tun1 → Process B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ns1:				ns2:</a:t>
            </a:r>
            <a:br>
              <a:rPr lang="de-DE" dirty="0"/>
            </a:br>
            <a:r>
              <a:rPr lang="de-DE" dirty="0"/>
              <a:t>tun0 10.0.0.1				tun1 10.0.1.1</a:t>
            </a:r>
            <a:br>
              <a:rPr lang="de-DE" dirty="0"/>
            </a:br>
            <a:r>
              <a:rPr lang="de-DE" dirty="0"/>
              <a:t>veth0 192.168.0.1			 veth1 192.168.0.2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The key TUN points: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Writing to a TUN device injects a packet INTO the kernel IP stack.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Reading from a TUN device receives packets the kernel routed TO that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dirty="0" err="1"/>
              <a:t>ip</a:t>
            </a:r>
            <a:r>
              <a:rPr lang="en-GB" dirty="0"/>
              <a:t>-&gt;protocol = IPPROTO_ICMP;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Each instance = node, and each node has an IP 10.0.0.99 (</a:t>
            </a:r>
            <a:r>
              <a:rPr lang="en-GB" dirty="0" err="1"/>
              <a:t>src</a:t>
            </a:r>
            <a:r>
              <a:rPr lang="en-GB" dirty="0"/>
              <a:t>) → 10.0.1.99 (</a:t>
            </a:r>
            <a:r>
              <a:rPr lang="en-GB" dirty="0" err="1"/>
              <a:t>dst</a:t>
            </a:r>
            <a:r>
              <a:rPr lang="en-GB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-&gt; write(tun0)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kernel injects packet into ns1 stack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routing : 10.0.1.0/24 via 192.168.0.2 dev veth0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packet exits via veth0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crosses </a:t>
            </a:r>
            <a:r>
              <a:rPr lang="en-GB" dirty="0" err="1"/>
              <a:t>veth</a:t>
            </a:r>
            <a:r>
              <a:rPr lang="en-GB" dirty="0"/>
              <a:t> pair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arrives ns2 via veth1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routing in ns2 says packet belongs to tun1 subnet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kernel delivers packet to tun1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read(tun1)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55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AD63-4F2D-E4DB-A914-C1615B0C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9448-0931-FB17-595E-A17EAAC6A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V5 (</a:t>
            </a:r>
            <a:r>
              <a:rPr lang="en-GB" sz="3200" b="1" dirty="0" err="1"/>
              <a:t>proto_kernel_test.c</a:t>
            </a:r>
            <a:r>
              <a:rPr lang="en-GB" sz="3200" b="1" dirty="0"/>
              <a:t>) same as V4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C419C-18B9-FFE5-9801-909C5A2CA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652009"/>
            <a:ext cx="11451771" cy="5596392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The working example uses two separate namespaces : ns1 (tun0, veth0) and ns2 (tun1, veth1)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Each namespace owns exactly one TUN interface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A TUN device gives you: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packet injection into kernel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packet extraction from kernel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Routing causes packets written on one TUN to cross the kernel network stack and come out on the other namespace’s TUN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One process writes to tun0; another process reads from tun1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Linux transports packets between namespaces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TX and RX are fully separated into independent processes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Emulates a routed topology using: separate namespaces, </a:t>
            </a:r>
            <a:r>
              <a:rPr lang="en-GB" dirty="0" err="1"/>
              <a:t>veth</a:t>
            </a:r>
            <a:r>
              <a:rPr lang="en-GB" dirty="0"/>
              <a:t> transport, explicit next-hop routes separate TX/RX processes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NOTE: a TUN interface it is a </a:t>
            </a:r>
            <a:r>
              <a:rPr lang="en-GB" dirty="0" err="1"/>
              <a:t>userspace</a:t>
            </a:r>
            <a:r>
              <a:rPr lang="en-GB" dirty="0"/>
              <a:t> endpoint attached to the kernel IP stack (</a:t>
            </a:r>
            <a:r>
              <a:rPr lang="en-GB" dirty="0" err="1"/>
              <a:t>userspace</a:t>
            </a:r>
            <a:r>
              <a:rPr lang="en-GB" dirty="0"/>
              <a:t> &lt;-&gt; kernel IP stack), and not a pipe between processes (</a:t>
            </a:r>
            <a:r>
              <a:rPr lang="en-GB" dirty="0" err="1"/>
              <a:t>userspace</a:t>
            </a:r>
            <a:r>
              <a:rPr lang="en-GB" dirty="0"/>
              <a:t> &lt;-&gt; </a:t>
            </a:r>
            <a:r>
              <a:rPr lang="en-GB" dirty="0" err="1"/>
              <a:t>userspace</a:t>
            </a:r>
            <a:r>
              <a:rPr lang="en-GB" dirty="0"/>
              <a:t>) so without a </a:t>
            </a:r>
            <a:r>
              <a:rPr lang="en-GB" dirty="0" err="1"/>
              <a:t>veth</a:t>
            </a:r>
            <a:r>
              <a:rPr lang="en-GB" dirty="0"/>
              <a:t> pair (or some other L2/L3 transport path), Linux has no physical/logical path between namespaces.</a:t>
            </a:r>
          </a:p>
        </p:txBody>
      </p:sp>
    </p:spTree>
    <p:extLst>
      <p:ext uri="{BB962C8B-B14F-4D97-AF65-F5344CB8AC3E}">
        <p14:creationId xmlns:p14="http://schemas.microsoft.com/office/powerpoint/2010/main" val="251093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7F4F-6F27-B17C-F030-B443632E4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55B5-9C98-390D-23AA-62450C71B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0"/>
            <a:ext cx="10961914" cy="65200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V5 (</a:t>
            </a:r>
            <a:r>
              <a:rPr lang="en-GB" sz="3200" b="1" dirty="0" err="1"/>
              <a:t>proto_kernel_test.c</a:t>
            </a:r>
            <a:r>
              <a:rPr lang="en-GB" sz="3200" b="1" dirty="0"/>
              <a:t>) – Closer mapping Legacy → Linux user-space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4243D-5EA6-2BE4-ECB3-7D27C023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652009"/>
            <a:ext cx="11451771" cy="559639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2C1569-2C82-3940-F80C-545573902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2957"/>
              </p:ext>
            </p:extLst>
          </p:nvPr>
        </p:nvGraphicFramePr>
        <p:xfrm>
          <a:off x="653143" y="1488871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335701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65994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>
                          <a:latin typeface="+mn-lt"/>
                        </a:rPr>
                        <a:t>Legacy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>
                          <a:latin typeface="+mn-lt"/>
                        </a:rPr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918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>
                          <a:latin typeface="+mn-lt"/>
                        </a:rPr>
                        <a:t>proto_output(ifp, m, dst, rt)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>
                          <a:latin typeface="+mn-lt"/>
                        </a:rPr>
                        <a:t>proto_output(instance, mbuf)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182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 err="1">
                          <a:latin typeface="+mn-lt"/>
                        </a:rPr>
                        <a:t>proto_input</a:t>
                      </a:r>
                      <a:r>
                        <a:rPr lang="en-GB" sz="2400" dirty="0">
                          <a:latin typeface="+mn-lt"/>
                        </a:rPr>
                        <a:t>(</a:t>
                      </a:r>
                      <a:r>
                        <a:rPr lang="en-GB" sz="2400" dirty="0" err="1">
                          <a:latin typeface="+mn-lt"/>
                        </a:rPr>
                        <a:t>ifp</a:t>
                      </a:r>
                      <a:r>
                        <a:rPr lang="en-GB" sz="2400" dirty="0">
                          <a:latin typeface="+mn-lt"/>
                        </a:rPr>
                        <a:t>, 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>
                          <a:latin typeface="+mn-lt"/>
                        </a:rPr>
                        <a:t>proto_input(instance, mbuf)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74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 err="1">
                          <a:latin typeface="+mn-lt"/>
                        </a:rPr>
                        <a:t>mbuf</a:t>
                      </a:r>
                      <a:endParaRPr lang="en-GB" sz="24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latin typeface="+mn-lt"/>
                        </a:rPr>
                        <a:t>simple </a:t>
                      </a:r>
                      <a:r>
                        <a:rPr lang="en-GB" sz="2400" dirty="0" err="1">
                          <a:latin typeface="+mn-lt"/>
                        </a:rPr>
                        <a:t>mbuf</a:t>
                      </a:r>
                      <a:r>
                        <a:rPr lang="en-GB" sz="2400" dirty="0">
                          <a:latin typeface="+mn-lt"/>
                        </a:rPr>
                        <a:t> struct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28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 err="1">
                          <a:latin typeface="+mn-lt"/>
                        </a:rPr>
                        <a:t>ifnet</a:t>
                      </a:r>
                      <a:endParaRPr lang="en-GB" sz="24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latin typeface="+mn-lt"/>
                        </a:rPr>
                        <a:t>simple struct with tun </a:t>
                      </a:r>
                      <a:r>
                        <a:rPr lang="en-GB" sz="2400" dirty="0" err="1">
                          <a:latin typeface="+mn-lt"/>
                        </a:rPr>
                        <a:t>fd</a:t>
                      </a:r>
                      <a:endParaRPr lang="en-GB" sz="24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677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solidFill>
                            <a:srgbClr val="FF0000"/>
                          </a:solidFill>
                          <a:latin typeface="+mn-lt"/>
                        </a:rPr>
                        <a:t>BSD/LynxOS routing + routing table</a:t>
                      </a:r>
                    </a:p>
                    <a:p>
                      <a:pPr>
                        <a:buNone/>
                      </a:pPr>
                      <a:r>
                        <a:rPr lang="en-GB" sz="2400" dirty="0">
                          <a:solidFill>
                            <a:srgbClr val="FF0000"/>
                          </a:solidFill>
                          <a:latin typeface="+mn-lt"/>
                        </a:rPr>
                        <a:t>(</a:t>
                      </a:r>
                      <a:r>
                        <a:rPr lang="en-GB" sz="2400" dirty="0" err="1">
                          <a:solidFill>
                            <a:srgbClr val="FF0000"/>
                          </a:solidFill>
                        </a:rPr>
                        <a:t>rtentry</a:t>
                      </a:r>
                      <a:r>
                        <a:rPr lang="en-GB" sz="2400" dirty="0">
                          <a:solidFill>
                            <a:srgbClr val="FF0000"/>
                          </a:solidFill>
                        </a:rPr>
                        <a:t> structure)</a:t>
                      </a:r>
                      <a:endParaRPr lang="en-GB" sz="24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solidFill>
                            <a:srgbClr val="FF0000"/>
                          </a:solidFill>
                          <a:latin typeface="+mn-lt"/>
                        </a:rPr>
                        <a:t>Linux kernel routing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1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68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1A54-A87C-6598-8E0E-9FEBCB21D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82D9-E2EA-0657-CFD8-4D316059A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0107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V5 (</a:t>
            </a:r>
            <a:r>
              <a:rPr lang="en-GB" sz="3200" b="1" dirty="0" err="1"/>
              <a:t>proto_kernel_test.c</a:t>
            </a:r>
            <a:r>
              <a:rPr lang="en-GB" sz="3200" b="1" dirty="0"/>
              <a:t>) versus Legacy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B0FD0-DD22-674B-DB3D-9E08A3186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1132115"/>
            <a:ext cx="11451771" cy="5116285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Removed: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Routing table (</a:t>
            </a:r>
            <a:r>
              <a:rPr lang="en-GB" dirty="0" err="1"/>
              <a:t>rtentry</a:t>
            </a:r>
            <a:r>
              <a:rPr lang="en-GB" dirty="0"/>
              <a:t> structure) → Linux kernel handles routing in the </a:t>
            </a:r>
            <a:r>
              <a:rPr lang="en-GB" b="1" dirty="0"/>
              <a:t>test</a:t>
            </a:r>
            <a:r>
              <a:rPr lang="en-GB" dirty="0"/>
              <a:t>!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Semaphores → single-threaded process in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Hardware interrupts → process become data driven in user space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Data driven execution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Preserve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Ifnet</a:t>
            </a:r>
            <a:r>
              <a:rPr lang="en-GB" dirty="0"/>
              <a:t> and </a:t>
            </a:r>
            <a:r>
              <a:rPr lang="en-GB" dirty="0" err="1"/>
              <a:t>mbuf</a:t>
            </a:r>
            <a:r>
              <a:rPr lang="en-GB" dirty="0"/>
              <a:t> structures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Multiple protocol instances (scalable)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Protocol driver instance and function signatures and semantics (</a:t>
            </a:r>
            <a:r>
              <a:rPr lang="en-GB" dirty="0" err="1"/>
              <a:t>proto_output</a:t>
            </a:r>
            <a:r>
              <a:rPr lang="en-GB" dirty="0"/>
              <a:t>() / </a:t>
            </a:r>
            <a:r>
              <a:rPr lang="en-GB" dirty="0" err="1"/>
              <a:t>proto_input</a:t>
            </a:r>
            <a:r>
              <a:rPr lang="en-GB" dirty="0"/>
              <a:t>())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proto_input</a:t>
            </a:r>
            <a:r>
              <a:rPr lang="en-GB" dirty="0"/>
              <a:t>() → injects into TUN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proto_output</a:t>
            </a:r>
            <a:r>
              <a:rPr lang="en-GB" dirty="0"/>
              <a:t>() → reads from TUN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Production Implementation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User space routing control plane + Routing tables </a:t>
            </a:r>
            <a:r>
              <a:rPr lang="en-GB" dirty="0"/>
              <a:t>(user-space daemon):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/>
              <a:t>computes routes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/>
              <a:t>installs routes into kernel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/>
              <a:t>kernel forwards packets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4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F18F-8059-EBDD-246A-53143B4A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B576-085A-4BF9-9643-BFD340646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RUN V5 (</a:t>
            </a:r>
            <a:r>
              <a:rPr lang="en-GB" sz="3200" b="1" dirty="0" err="1"/>
              <a:t>proto_kernel_test.c</a:t>
            </a:r>
            <a:r>
              <a:rPr lang="en-GB" sz="3200" b="1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4F468-C559-A76E-13C2-9E5E72E26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652009"/>
            <a:ext cx="11451771" cy="559639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Namespace setup: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sudo</a:t>
            </a:r>
            <a:r>
              <a:rPr lang="en-GB" dirty="0"/>
              <a:t> bash setup_netns.sh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Terminal 1 (receiver)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ip</a:t>
            </a:r>
            <a:r>
              <a:rPr lang="en-GB" dirty="0"/>
              <a:t> </a:t>
            </a:r>
            <a:r>
              <a:rPr lang="en-GB" dirty="0" err="1"/>
              <a:t>netns</a:t>
            </a:r>
            <a:r>
              <a:rPr lang="en-GB" dirty="0"/>
              <a:t> exec ns2 ./</a:t>
            </a:r>
            <a:r>
              <a:rPr lang="en-GB" dirty="0" err="1"/>
              <a:t>proto_kernel_test</a:t>
            </a:r>
            <a:r>
              <a:rPr lang="en-GB" dirty="0"/>
              <a:t> 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Terminal 2 (sender)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ip</a:t>
            </a:r>
            <a:r>
              <a:rPr lang="en-GB" dirty="0"/>
              <a:t> </a:t>
            </a:r>
            <a:r>
              <a:rPr lang="en-GB" dirty="0" err="1"/>
              <a:t>netns</a:t>
            </a:r>
            <a:r>
              <a:rPr lang="en-GB" dirty="0"/>
              <a:t> exec ns1 ./</a:t>
            </a:r>
            <a:r>
              <a:rPr lang="en-GB" dirty="0" err="1"/>
              <a:t>proto_kernel_test</a:t>
            </a:r>
            <a:r>
              <a:rPr lang="en-GB" dirty="0"/>
              <a:t> 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Output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[INSTANCE_B] </a:t>
            </a:r>
            <a:r>
              <a:rPr lang="en-GB" dirty="0" err="1"/>
              <a:t>proto_input</a:t>
            </a:r>
            <a:r>
              <a:rPr lang="en-GB" dirty="0"/>
              <a:t>: </a:t>
            </a:r>
            <a:r>
              <a:rPr lang="en-GB" dirty="0" err="1"/>
              <a:t>len</a:t>
            </a:r>
            <a:r>
              <a:rPr lang="en-GB" dirty="0"/>
              <a:t>=24 </a:t>
            </a:r>
            <a:r>
              <a:rPr lang="en-GB" dirty="0" err="1"/>
              <a:t>src</a:t>
            </a:r>
            <a:r>
              <a:rPr lang="en-GB" dirty="0"/>
              <a:t>=10.0.0.99 </a:t>
            </a:r>
            <a:r>
              <a:rPr lang="en-GB" dirty="0" err="1"/>
              <a:t>dst</a:t>
            </a:r>
            <a:r>
              <a:rPr lang="en-GB" dirty="0"/>
              <a:t>=10.0.1.99</a:t>
            </a:r>
            <a:br>
              <a:rPr lang="en-GB" dirty="0"/>
            </a:br>
            <a:r>
              <a:rPr lang="en-GB" dirty="0"/>
              <a:t>[INSTANCE_B] payload: TEST</a:t>
            </a:r>
            <a:br>
              <a:rPr lang="en-GB" dirty="0"/>
            </a:br>
            <a:r>
              <a:rPr lang="en-GB" dirty="0"/>
              <a:t>[INSTANCE_B] TEST PASSED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242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3B87-9F5F-C301-777E-7CF9EDD3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66AB-5F0C-B7D1-A0EB-E9FA68E58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Production Implementation: LAYERS vs Harnesses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E1AB6-6C88-DC56-1671-2A4CFE4D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034143"/>
            <a:ext cx="11745686" cy="5464628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1"/>
                </a:solidFill>
              </a:rPr>
              <a:t>Harness 1 (</a:t>
            </a:r>
            <a:r>
              <a:rPr lang="en-GB" b="1" dirty="0" err="1">
                <a:solidFill>
                  <a:schemeClr val="accent1"/>
                </a:solidFill>
              </a:rPr>
              <a:t>TUN+transport</a:t>
            </a:r>
            <a:r>
              <a:rPr lang="en-GB" b="1" dirty="0">
                <a:solidFill>
                  <a:schemeClr val="accent1"/>
                </a:solidFill>
              </a:rPr>
              <a:t>)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1"/>
                </a:solidFill>
              </a:rPr>
              <a:t>Layer 1 </a:t>
            </a:r>
            <a:r>
              <a:rPr lang="en-GB" dirty="0">
                <a:solidFill>
                  <a:schemeClr val="accent1"/>
                </a:solidFill>
              </a:rPr>
              <a:t>(boundary between user space and Linux IP stack) </a:t>
            </a:r>
            <a:r>
              <a:rPr lang="en-GB" b="1" dirty="0">
                <a:solidFill>
                  <a:schemeClr val="accent1"/>
                </a:solidFill>
              </a:rPr>
              <a:t>and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1"/>
                </a:solidFill>
              </a:rPr>
              <a:t>Layer2 </a:t>
            </a:r>
            <a:r>
              <a:rPr lang="en-GB" dirty="0">
                <a:solidFill>
                  <a:schemeClr val="accent1"/>
                </a:solidFill>
              </a:rPr>
              <a:t>(IP packet handling + packet encapsulation)</a:t>
            </a:r>
            <a:endParaRPr lang="en-GB" b="1" dirty="0">
              <a:solidFill>
                <a:schemeClr val="accent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1"/>
                </a:solidFill>
              </a:rPr>
              <a:t>Harness 2 (</a:t>
            </a:r>
            <a:r>
              <a:rPr lang="en-GB" b="1" dirty="0" err="1">
                <a:solidFill>
                  <a:schemeClr val="accent1"/>
                </a:solidFill>
              </a:rPr>
              <a:t>capture+replay</a:t>
            </a:r>
            <a:r>
              <a:rPr lang="en-GB" b="1" dirty="0">
                <a:solidFill>
                  <a:schemeClr val="accent1"/>
                </a:solidFill>
              </a:rPr>
              <a:t>) for Layer 3 + framing + compression + …</a:t>
            </a:r>
          </a:p>
          <a:p>
            <a:pPr algn="l"/>
            <a:endParaRPr lang="en-GB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Layer 1 — Local virtual interface: TUN</a:t>
            </a:r>
            <a:r>
              <a:rPr lang="en-GB" dirty="0"/>
              <a:t> device to inject/extract IP packets: tun read, </a:t>
            </a:r>
            <a:br>
              <a:rPr lang="en-GB" dirty="0"/>
            </a:br>
            <a:r>
              <a:rPr lang="en-GB" dirty="0"/>
              <a:t>tun write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Layer 2 </a:t>
            </a:r>
            <a:r>
              <a:rPr lang="en-GB" dirty="0"/>
              <a:t>—</a:t>
            </a:r>
            <a:r>
              <a:rPr lang="en-GB" b="1" dirty="0"/>
              <a:t>Transport</a:t>
            </a:r>
            <a:r>
              <a:rPr lang="en-GB" dirty="0"/>
              <a:t> </a:t>
            </a:r>
            <a:r>
              <a:rPr lang="en-GB" b="1" dirty="0"/>
              <a:t>(inter-host E2E comm): </a:t>
            </a:r>
            <a:r>
              <a:rPr lang="en-GB" dirty="0"/>
              <a:t>preserve the packet semantics and encapsulation behaviour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 IPv4 based, same semantics as UDP sockets or raw IP sockets from legacy: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IP headers, fragmentation, checksums, multicast, TCP/UDP classification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UDP-based for data transport:  </a:t>
            </a:r>
            <a:r>
              <a:rPr lang="da-DK" dirty="0"/>
              <a:t>AF_INET + SOCK_DGRAM (UDP)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raw IP encapsulation for protocols like ICMP: SOCK_RAW + IPPROTO_ICMP</a:t>
            </a:r>
            <a:endParaRPr lang="en-GB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Layer 3 — Routing (network layer) = </a:t>
            </a:r>
            <a:r>
              <a:rPr lang="en-GB" dirty="0"/>
              <a:t>Linux kernel</a:t>
            </a:r>
            <a:r>
              <a:rPr lang="en-GB" b="1" dirty="0"/>
              <a:t> </a:t>
            </a:r>
            <a:r>
              <a:rPr lang="en-GB" dirty="0"/>
              <a:t>routing tables</a:t>
            </a: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dirty="0"/>
              <a:t>external to the protocol driver</a:t>
            </a:r>
            <a:endParaRPr lang="en-GB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Layer 4 </a:t>
            </a:r>
            <a:r>
              <a:rPr lang="en-GB" dirty="0"/>
              <a:t>—</a:t>
            </a:r>
            <a:r>
              <a:rPr lang="en-GB" b="1" dirty="0"/>
              <a:t> flows/</a:t>
            </a:r>
            <a:r>
              <a:rPr lang="en-GB" b="1" dirty="0" err="1"/>
              <a:t>subflows</a:t>
            </a:r>
            <a:r>
              <a:rPr lang="en-GB" b="1" dirty="0"/>
              <a:t>/QoS </a:t>
            </a:r>
            <a:r>
              <a:rPr lang="en-GB" dirty="0"/>
              <a:t>protocol (somewhere between OSI L3 and L4)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intercepts IP packets, manages flows classification, scheduling of QoS/</a:t>
            </a:r>
            <a:r>
              <a:rPr lang="en-GB" dirty="0" err="1"/>
              <a:t>subflows</a:t>
            </a:r>
            <a:r>
              <a:rPr lang="en-GB" dirty="0"/>
              <a:t>, packet replay, stats, compression, …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05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1D2A-6923-C771-9F05-1D1AFB495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495D-F556-8F73-9AF6-CA584C496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INTEROPERABILTY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44E51-D9BE-6655-5509-C809C2417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652009"/>
            <a:ext cx="11745686" cy="559639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u="sng" dirty="0"/>
              <a:t>LEGACY</a:t>
            </a:r>
          </a:p>
          <a:p>
            <a:pPr algn="l"/>
            <a:r>
              <a:rPr lang="en-GB" dirty="0"/>
              <a:t>legacy kernel protocol driver </a:t>
            </a:r>
            <a:r>
              <a:rPr lang="en-GB" b="1" dirty="0">
                <a:highlight>
                  <a:srgbClr val="FFFF00"/>
                </a:highlight>
              </a:rPr>
              <a:t>&lt;-&gt;</a:t>
            </a:r>
            <a:r>
              <a:rPr lang="en-GB" dirty="0"/>
              <a:t> BSD networking stack </a:t>
            </a:r>
            <a:r>
              <a:rPr lang="en-GB" dirty="0">
                <a:highlight>
                  <a:srgbClr val="FFFF00"/>
                </a:highlight>
              </a:rPr>
              <a:t>&lt;-&gt; </a:t>
            </a:r>
            <a:r>
              <a:rPr lang="en-GB" dirty="0">
                <a:solidFill>
                  <a:srgbClr val="FF0000"/>
                </a:solidFill>
              </a:rPr>
              <a:t>custom routed transport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u="sng" dirty="0"/>
              <a:t>NEW IMPLEMENTATION</a:t>
            </a:r>
          </a:p>
          <a:p>
            <a:pPr algn="l"/>
            <a:r>
              <a:rPr lang="en-GB" dirty="0"/>
              <a:t>Linux </a:t>
            </a:r>
            <a:r>
              <a:rPr lang="en-GB" dirty="0" err="1"/>
              <a:t>userspace</a:t>
            </a:r>
            <a:r>
              <a:rPr lang="en-GB" dirty="0"/>
              <a:t> </a:t>
            </a:r>
            <a:r>
              <a:rPr lang="en-GB" b="1" dirty="0">
                <a:highlight>
                  <a:srgbClr val="FFFF00"/>
                </a:highlight>
              </a:rPr>
              <a:t>&lt;-&gt; </a:t>
            </a:r>
            <a:r>
              <a:rPr lang="en-GB" dirty="0"/>
              <a:t>TUN interface </a:t>
            </a:r>
            <a:r>
              <a:rPr lang="en-GB" dirty="0">
                <a:highlight>
                  <a:srgbClr val="FFFF00"/>
                </a:highlight>
              </a:rPr>
              <a:t>&lt;-&gt; </a:t>
            </a:r>
            <a:r>
              <a:rPr lang="en-GB" dirty="0"/>
              <a:t>Linux networking stack </a:t>
            </a:r>
            <a:r>
              <a:rPr lang="en-GB" dirty="0">
                <a:highlight>
                  <a:srgbClr val="FFFF00"/>
                </a:highlight>
              </a:rPr>
              <a:t>&lt;-&gt; </a:t>
            </a:r>
            <a:r>
              <a:rPr lang="en-GB" dirty="0">
                <a:solidFill>
                  <a:srgbClr val="FF0000"/>
                </a:solidFill>
              </a:rPr>
              <a:t>same custom routed transport</a:t>
            </a:r>
          </a:p>
          <a:p>
            <a:pPr algn="l"/>
            <a:endParaRPr lang="en-GB" dirty="0"/>
          </a:p>
          <a:p>
            <a:pPr algn="l"/>
            <a:r>
              <a:rPr lang="en-GB" b="1" u="sng" dirty="0"/>
              <a:t>INTEROPERABILITY (old </a:t>
            </a:r>
            <a:r>
              <a:rPr lang="en-GB" b="1" u="sng" dirty="0">
                <a:sym typeface="Wingdings" panose="05000000000000000000" pitchFamily="2" charset="2"/>
              </a:rPr>
              <a:t>PRODVR</a:t>
            </a:r>
            <a:r>
              <a:rPr lang="en-GB" b="1" u="sng" dirty="0"/>
              <a:t> </a:t>
            </a:r>
            <a:r>
              <a:rPr lang="en-GB" b="1" u="sng" dirty="0">
                <a:sym typeface="Wingdings" panose="05000000000000000000" pitchFamily="2" charset="2"/>
              </a:rPr>
              <a:t>&lt;--&gt; new PRODVR) </a:t>
            </a:r>
            <a:endParaRPr lang="en-GB" b="1" u="sng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Must preserve/use the same transport (wire protocol semantics and packet encapsulation) the old implementation already uses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Legacy transport is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IPv4-based (AF_INET) </a:t>
            </a:r>
            <a:r>
              <a:rPr lang="en-GB" dirty="0">
                <a:sym typeface="Wingdings" panose="05000000000000000000" pitchFamily="2" charset="2"/>
              </a:rPr>
              <a:t>raw IP/UDP protocol, multicast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UDP-based for data transport: e.g. socket(AF_INET, SOCK_DGRAM, 0)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raw IP encapsulation for protocols like ICMP: e.g.  socket(AF_INET, SOCK_RAW, IPPROTO_ICMP)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4214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F112-A474-CC0D-6907-C975D890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9F7A-94FB-687A-085B-A8788D97F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b="1" dirty="0"/>
              <a:t>ROUTING IS ALMOST IDENTICAL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1BDB9-F408-27D6-8DE6-964965693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652009"/>
            <a:ext cx="11745686" cy="5596392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u="sng" dirty="0"/>
              <a:t>LEGACY - BSD/LynxOS routing</a:t>
            </a:r>
          </a:p>
          <a:p>
            <a:pPr algn="l"/>
            <a:r>
              <a:rPr lang="en-GB" dirty="0"/>
              <a:t>	 Legacy system already has a user-space routing control plane : </a:t>
            </a:r>
            <a:r>
              <a:rPr lang="en-GB" dirty="0" err="1"/>
              <a:t>routing_table.c</a:t>
            </a:r>
            <a:endParaRPr lang="en-GB" dirty="0"/>
          </a:p>
          <a:p>
            <a:pPr algn="l"/>
            <a:r>
              <a:rPr lang="en-GB" dirty="0"/>
              <a:t>	 programming the OS routing table using:</a:t>
            </a:r>
          </a:p>
          <a:p>
            <a:pPr algn="l"/>
            <a:r>
              <a:rPr lang="en-GB" dirty="0"/>
              <a:t>		BSD routing sockets </a:t>
            </a:r>
          </a:p>
          <a:p>
            <a:pPr algn="l"/>
            <a:r>
              <a:rPr lang="en-GB" dirty="0"/>
              <a:t>		Solaris routing sockets </a:t>
            </a:r>
          </a:p>
          <a:p>
            <a:pPr algn="l"/>
            <a:r>
              <a:rPr lang="en-GB" dirty="0"/>
              <a:t>		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netlink</a:t>
            </a:r>
            <a:r>
              <a:rPr lang="en-GB" b="1" dirty="0">
                <a:solidFill>
                  <a:srgbClr val="FF0000"/>
                </a:solidFill>
              </a:rPr>
              <a:t> on Linux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b="1" u="sng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u="sng" dirty="0"/>
              <a:t>NEW IMPLEMENTATION - Linux kernel routing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routing_table_netlink_impl.c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This is the low-level interface to the routing table, intended for use only by the higher level interface in module </a:t>
            </a:r>
            <a:r>
              <a:rPr lang="en-GB" dirty="0" err="1"/>
              <a:t>routing_table</a:t>
            </a:r>
            <a:r>
              <a:rPr lang="en-GB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This module encapsulates access to the host routing table, via the Linux </a:t>
            </a:r>
            <a:r>
              <a:rPr lang="en-GB" dirty="0" err="1"/>
              <a:t>Netlink</a:t>
            </a:r>
            <a:r>
              <a:rPr lang="en-GB" dirty="0"/>
              <a:t> sockets mechanism.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0000"/>
                </a:solidFill>
              </a:rPr>
              <a:t>routing management using </a:t>
            </a:r>
            <a:r>
              <a:rPr lang="en-GB" b="1" dirty="0" err="1">
                <a:solidFill>
                  <a:srgbClr val="FF0000"/>
                </a:solidFill>
              </a:rPr>
              <a:t>netlink</a:t>
            </a:r>
            <a:r>
              <a:rPr lang="en-GB" dirty="0"/>
              <a:t>:</a:t>
            </a:r>
          </a:p>
          <a:p>
            <a:pPr algn="l"/>
            <a:r>
              <a:rPr lang="en-GB" dirty="0"/>
              <a:t>		NETLINK_ROUTE </a:t>
            </a:r>
          </a:p>
          <a:p>
            <a:pPr algn="l"/>
            <a:r>
              <a:rPr lang="en-GB" dirty="0"/>
              <a:t>		</a:t>
            </a:r>
            <a:r>
              <a:rPr lang="en-GB" dirty="0" err="1"/>
              <a:t>rtnetlink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b="1" u="sng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0910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6E26-0C5A-09C0-35F3-374F729D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2A36-B884-7485-2B43-116D56AD1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52008"/>
          </a:xfrm>
        </p:spPr>
        <p:txBody>
          <a:bodyPr>
            <a:normAutofit/>
          </a:bodyPr>
          <a:lstStyle/>
          <a:p>
            <a:r>
              <a:rPr lang="en-GB" sz="3200" dirty="0"/>
              <a:t>Legacy semantics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EA6C0-F646-98EA-0DDA-07E223C82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143" y="652009"/>
            <a:ext cx="11049000" cy="559639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proto_output</a:t>
            </a:r>
            <a:r>
              <a:rPr lang="en-GB" dirty="0"/>
              <a:t>() = stack → driver egress callback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proto_input</a:t>
            </a:r>
            <a:r>
              <a:rPr lang="en-GB" dirty="0"/>
              <a:t>() = driver → stack ingress injection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routing is external to the driver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proto_input</a:t>
            </a:r>
            <a:r>
              <a:rPr lang="en-GB" dirty="0"/>
              <a:t>(B)</a:t>
            </a:r>
            <a:br>
              <a:rPr lang="en-GB" dirty="0"/>
            </a:br>
            <a:r>
              <a:rPr lang="en-GB" dirty="0"/>
              <a:t>-&gt; inject packet into stack</a:t>
            </a:r>
            <a:br>
              <a:rPr lang="en-GB" dirty="0"/>
            </a:br>
            <a:r>
              <a:rPr lang="en-GB" dirty="0"/>
              <a:t>	-&gt; stack routes</a:t>
            </a:r>
            <a:br>
              <a:rPr lang="en-GB" dirty="0"/>
            </a:br>
            <a:r>
              <a:rPr lang="en-GB" dirty="0"/>
              <a:t>		-&gt; </a:t>
            </a:r>
            <a:r>
              <a:rPr lang="en-GB" dirty="0" err="1"/>
              <a:t>proto_output</a:t>
            </a:r>
            <a:r>
              <a:rPr lang="en-GB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34007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1780</Words>
  <Application>Microsoft Office PowerPoint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V4 (tun_ns_test.c)</vt:lpstr>
      <vt:lpstr>V4 (tun_ns_test.c)</vt:lpstr>
      <vt:lpstr>V4 (tun_ns_test.c)</vt:lpstr>
      <vt:lpstr>V4 (tun_ns_test.c) – VETH </vt:lpstr>
      <vt:lpstr>V4 (tun_ns_test.c)</vt:lpstr>
      <vt:lpstr>RUN V4 (tun_ns_test.c)</vt:lpstr>
      <vt:lpstr>V4 (tun_ns_test.c) PACKET FLOW</vt:lpstr>
      <vt:lpstr>V5 (proto_kernel_test.c) same as V4</vt:lpstr>
      <vt:lpstr>V5 (proto_kernel_test.c) – Closer mapping Legacy → Linux user-space </vt:lpstr>
      <vt:lpstr>V5 (proto_kernel_test.c) versus Legacy</vt:lpstr>
      <vt:lpstr>RUN V5 (proto_kernel_test.c)</vt:lpstr>
      <vt:lpstr>Production Implementation: LAYERS vs Harnesses</vt:lpstr>
      <vt:lpstr>INTEROPERABILTY</vt:lpstr>
      <vt:lpstr>ROUTING IS ALMOST IDENTICAL</vt:lpstr>
      <vt:lpstr>Legacy semantics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Golden Sunshine</dc:creator>
  <cp:lastModifiedBy>Golden Sunshine</cp:lastModifiedBy>
  <cp:revision>29</cp:revision>
  <dcterms:created xsi:type="dcterms:W3CDTF">2026-05-11T18:35:01Z</dcterms:created>
  <dcterms:modified xsi:type="dcterms:W3CDTF">2026-05-12T08:53:21Z</dcterms:modified>
</cp:coreProperties>
</file>